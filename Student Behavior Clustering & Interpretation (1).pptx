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83198"/>
            <a:ext cx="10972800" cy="828675"/>
          </a:xfrm>
          <a:prstGeom prst="roundRect">
            <a:avLst>
              <a:gd name="adj" fmla="val 13793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816673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95650" y="3883223"/>
            <a:ext cx="4162425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62875" y="3883223"/>
            <a:ext cx="104775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816673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5650" y="3883223"/>
            <a:ext cx="9525" cy="4286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62875" y="3883223"/>
            <a:ext cx="9525" cy="4286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1355526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UNSUPERVISED MACHINE LEARNING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41276"/>
            <a:ext cx="9701212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Student Behavior Clustering &amp; Segment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844998"/>
            <a:ext cx="7715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Uncovering actionable behavioral archetypes from 14,003 academic performance records using K-Means clustering.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83223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PRESENTER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92773"/>
            <a:ext cx="2631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Nihar Minj 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(ERP: 6605332)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1875" y="3883223"/>
            <a:ext cx="4857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COLLEGE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875" y="4092773"/>
            <a:ext cx="4857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Plus Jakarta Sans"/>
              </a:rPr>
              <a:t>Rungta College of Engineering And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9100" y="3883223"/>
            <a:ext cx="1057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4092773"/>
            <a:ext cx="1057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Plus Jakarta Sans"/>
              </a:rPr>
              <a:t>CSVTU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054798"/>
            <a:ext cx="190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Dataset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264348"/>
            <a:ext cx="1905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14,003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0800" y="5054798"/>
            <a:ext cx="4393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Key Indicators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0800" y="5264348"/>
            <a:ext cx="43934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Study Hours, Attendance, Exam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5054798"/>
            <a:ext cx="1559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Optimal Partitioning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5264348"/>
            <a:ext cx="15597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K = 4 Clusters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0521"/>
            <a:ext cx="3505200" cy="2348507"/>
          </a:xfrm>
          <a:prstGeom prst="roundRect">
            <a:avLst>
              <a:gd name="adj" fmla="val 6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40521"/>
            <a:ext cx="3505200" cy="2348507"/>
          </a:xfrm>
          <a:prstGeom prst="roundRect">
            <a:avLst>
              <a:gd name="adj" fmla="val 6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40521"/>
            <a:ext cx="3505200" cy="2348507"/>
          </a:xfrm>
          <a:prstGeom prst="roundRect">
            <a:avLst>
              <a:gd name="adj" fmla="val 6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54846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054846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054846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87" y="3188196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188196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8675" y="3188196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Key Analytical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02546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Standardized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54971"/>
            <a:ext cx="31242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StandardScaler normalization prevented feature dominance during distance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702546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Distinct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054971"/>
            <a:ext cx="31242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Elbow curvature evaluation confirmed four primary behavioral student personas.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702546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Targeted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054971"/>
            <a:ext cx="31242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Enables custom academic interventions based on behavioral group profile.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1700" y="2569964"/>
            <a:ext cx="5600700" cy="2651521"/>
          </a:xfrm>
          <a:prstGeom prst="roundRect">
            <a:avLst>
              <a:gd name="adj" fmla="val 57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3712964"/>
            <a:ext cx="4991100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29050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10062"/>
            <a:ext cx="219075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91075"/>
            <a:ext cx="219075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Feature Selection &amp; 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38412"/>
            <a:ext cx="65508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Selected Modeling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57512"/>
            <a:ext cx="5086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Three core quantitative indicators drive student behavioral segmentation: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74764"/>
            <a:ext cx="5905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StandardScaler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265289"/>
            <a:ext cx="59055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Standardizes variables to zero mean and unit variance.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5012" y="3865364"/>
            <a:ext cx="5934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monospace"/>
              </a:rPr>
              <a:t>z = (x - μ) / 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436864"/>
            <a:ext cx="50863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Eliminates scale bias between attendance percentages and weekly study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700462"/>
            <a:ext cx="48006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Study Hours: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Weekly dedicated independent study 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4291012"/>
            <a:ext cx="590550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Attendance: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Percentage of total lectures attended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4662487"/>
            <a:ext cx="4752975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Exam Score: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Academic performance measurement 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44680" y="2482304"/>
            <a:ext cx="4137719" cy="1083766"/>
          </a:xfrm>
          <a:prstGeom prst="roundRect">
            <a:avLst>
              <a:gd name="adj" fmla="val 1054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44680" y="3718470"/>
            <a:ext cx="4137719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44680" y="2482304"/>
            <a:ext cx="38100" cy="108376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653028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247900"/>
            <a:ext cx="6206430" cy="329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HYPERPARAMETER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Elbow Curve &amp; Population Partitioning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3280" y="2672804"/>
            <a:ext cx="45187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Optimal K = 4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3280" y="2949029"/>
            <a:ext cx="381386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1E3A8A"/>
                </a:solidFill>
                <a:latin typeface="Plus Jakarta Sans"/>
              </a:rPr>
              <a:t>Inertia inflection point stabilizes at K=4, minimizing within-cluster variance.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705" y="3918495"/>
            <a:ext cx="45472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Balanced Cluster Sizes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705" y="4213770"/>
            <a:ext cx="454729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Cluster 0: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3,675 students (26.2%)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705" y="4451895"/>
            <a:ext cx="454729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Cluster 1: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3,604 students (25.7%)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705" y="4690020"/>
            <a:ext cx="454729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Cluster 2: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3,389 students (24.2%)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705" y="4928145"/>
            <a:ext cx="454729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Cluster 3: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3,335 students (23.8%)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71E575-E3C7-90F7-4710-ED719684F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42" y="2247900"/>
            <a:ext cx="5582429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14319" y="2128837"/>
            <a:ext cx="416808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14319" y="3357562"/>
            <a:ext cx="416808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14319" y="4586287"/>
            <a:ext cx="416808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6499919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209800"/>
            <a:ext cx="6252269" cy="3371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DIMENSIONALITY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PCA 2D Mapping of Student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4344" y="2328862"/>
            <a:ext cx="45776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Principal Component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4344" y="2605087"/>
            <a:ext cx="3863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Captures primary variance driven by engagement metrics (Study Hours &amp; Attendance).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4344" y="3557587"/>
            <a:ext cx="45776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Principal Component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4344" y="3833812"/>
            <a:ext cx="3863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Represents academic performance output variance across exam score distributions.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4344" y="4786312"/>
            <a:ext cx="45776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Clear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4344" y="5062537"/>
            <a:ext cx="3863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Distinct color-coded cluster groupings demonstrate high spatial separability.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51FFB8-1D76-4002-F933-86F55A42C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87" y="2271711"/>
            <a:ext cx="5287113" cy="33718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14319" y="2128837"/>
            <a:ext cx="416808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14319" y="3357562"/>
            <a:ext cx="416808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14319" y="4586287"/>
            <a:ext cx="416808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08" y="1984075"/>
            <a:ext cx="6682912" cy="3721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324" y="2547937"/>
            <a:ext cx="2458349" cy="1325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SPATIAL FEATURE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3D Feature Space Clustering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4344" y="2328862"/>
            <a:ext cx="45776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Study Hours 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4344" y="2605087"/>
            <a:ext cx="3863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Ranges from 5 to 45 hours, delineating low vs. high independent effort.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4344" y="3557587"/>
            <a:ext cx="45776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Attendance Axis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4344" y="3833812"/>
            <a:ext cx="3863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Spans 60% to 100% lecture attendance rates across all student cohorts.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4344" y="4786312"/>
            <a:ext cx="457765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Exam Score Vertical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4344" y="5062537"/>
            <a:ext cx="3863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Highlights the strong correlation between combined engagement and final grades.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AB0209-7ED8-FE73-4C55-8186EC3B4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455" y="2110236"/>
            <a:ext cx="5325218" cy="3595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91650" y="642937"/>
            <a:ext cx="2190750" cy="371475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82150" y="719137"/>
            <a:ext cx="1905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Top Performers (26.2%)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476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CLUSTER PERSONA 0 (N = 3,675)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50006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High-Performing Scholars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STUDY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59669"/>
                </a:solidFill>
                <a:latin typeface="Plus Jakarta Sans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Consistent daily study habits.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59669"/>
                </a:solidFill>
                <a:latin typeface="Plus Jakarta San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Regular classroom participation.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EXAM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59669"/>
                </a:solidFill>
                <a:latin typeface="Plus Jakarta San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Superior final test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44025" y="642937"/>
            <a:ext cx="2238375" cy="3714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34525" y="719137"/>
            <a:ext cx="19526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Steady Learners (25.7%)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571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CLUSTER PERSONA 1 (N = 3,604)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60007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Moderate Consistent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STUDY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563EB"/>
                </a:solidFill>
                <a:latin typeface="Plus Jakarta Sans"/>
              </a:rPr>
              <a:t>Moderate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Balanced study routines.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563EB"/>
                </a:solidFill>
                <a:latin typeface="Plus Jakarta Sans"/>
              </a:rP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Consistent attendance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EXAM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563EB"/>
                </a:solidFill>
                <a:latin typeface="Plus Jakarta Sans"/>
              </a:rPr>
              <a:t>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Satisfactory passing grades.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29750" y="642937"/>
            <a:ext cx="2152650" cy="3714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0" y="719137"/>
            <a:ext cx="18669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High Efficiency (24.2%)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5429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Plus Jakarta Sans"/>
              </a:rPr>
              <a:t>CLUSTER PERSONA 2 (N = 3,389)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5700712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Strategic / Efficiency Seekers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STUDY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D97706"/>
                </a:solidFill>
                <a:latin typeface="Plus Jakarta Sans"/>
              </a:rPr>
              <a:t>Low / Mod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Minimal independent study.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D97706"/>
                </a:solidFill>
                <a:latin typeface="Plus Jakarta Sans"/>
              </a:rPr>
              <a:t>Moderate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Selective class participation.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EXAM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D97706"/>
                </a:solidFill>
                <a:latin typeface="Plus Jakarta San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Strong exam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001125" y="642937"/>
            <a:ext cx="2581275" cy="371475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009900"/>
            <a:ext cx="350520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91625" y="719137"/>
            <a:ext cx="2295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Intervention Needed (23.8%)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5524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CLUSTER PERSONA 3 (N = 3,335)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"/>
            <a:ext cx="58007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At-Risk / Disengaged Learners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STUDY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DC2626"/>
                </a:solidFill>
                <a:latin typeface="Plus Jakarta Sans"/>
              </a:rP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Inadequate preparation effort.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DC2626"/>
                </a:solidFill>
                <a:latin typeface="Plus Jakarta Sans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5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Frequent absent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324225"/>
            <a:ext cx="378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EXAM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571875"/>
            <a:ext cx="3786187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DC2626"/>
                </a:solidFill>
                <a:latin typeface="Plus Jakarta Sans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413385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Poor test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562225"/>
          <a:ext cx="10972797" cy="2667000"/>
        </p:xfrm>
        <a:graphic>
          <a:graphicData uri="http://schemas.openxmlformats.org/drawingml/2006/table">
            <a:tbl>
              <a:tblPr/>
              <a:tblGrid>
                <a:gridCol w="1238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4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Cluster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Student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Study Hours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Attendance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Exam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Cluster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3,675 (26.2%)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Dedicated High Achievers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Cluster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3,604 (25.7%)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Steady Core Performers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Cluster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3,389 (24.2%)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Low / 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Strategic Fast Learners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Cluster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3,335 (23.8%)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At-Risk Disengaged Students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Cluster Profile Comparison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0250" y="462438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99992" y="2195512"/>
            <a:ext cx="279201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CONCLUSION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519362"/>
            <a:ext cx="100012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Data-Driven Academic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6562" y="4005262"/>
            <a:ext cx="6238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Questions &amp; Discussion on Behavioral Clustering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562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Space Grotesk</vt:lpstr>
      <vt:lpstr>Plus Jakarta Sans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Nihar Minj</cp:lastModifiedBy>
  <cp:revision>2</cp:revision>
  <dcterms:created xsi:type="dcterms:W3CDTF">2013-01-27T09:14:16Z</dcterms:created>
  <dcterms:modified xsi:type="dcterms:W3CDTF">2026-10-04T20:17:12Z</dcterms:modified>
  <cp:category/>
</cp:coreProperties>
</file>